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81" r:id="rId4"/>
    <p:sldId id="272" r:id="rId5"/>
    <p:sldId id="274" r:id="rId6"/>
    <p:sldId id="259" r:id="rId7"/>
    <p:sldId id="266" r:id="rId8"/>
    <p:sldId id="280" r:id="rId9"/>
    <p:sldId id="264" r:id="rId10"/>
    <p:sldId id="275" r:id="rId11"/>
    <p:sldId id="276" r:id="rId12"/>
    <p:sldId id="277" r:id="rId13"/>
    <p:sldId id="28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6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7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finisi Kekuasaan Menurut Para Ahli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16"/>
            <a:ext cx="12192000" cy="68064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0" y="605107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Phosphate Solid" panose="02000506050000020004" pitchFamily="2" charset="77"/>
                <a:cs typeface="Phosphate Solid" panose="02000506050000020004" pitchFamily="2" charset="77"/>
              </a:rPr>
              <a:t>DO’A UNTUK PEMIMPIN DZOLIM</a:t>
            </a:r>
          </a:p>
        </p:txBody>
      </p:sp>
    </p:spTree>
    <p:extLst>
      <p:ext uri="{BB962C8B-B14F-4D97-AF65-F5344CB8AC3E}">
        <p14:creationId xmlns:p14="http://schemas.microsoft.com/office/powerpoint/2010/main" val="13366256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drumroll.wav"/>
          </p:stSnd>
        </p:sndAc>
      </p:transition>
    </mc:Choice>
    <mc:Fallback xmlns="">
      <p:transition spd="slow">
        <p:fade/>
        <p:sndAc>
          <p:stSnd>
            <p:snd r:embed="rId4" name="drumroll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7AFF08-C895-D24B-9B8F-DF6BDAA79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4BD9F2-DF2D-7941-A713-489E7612104C}"/>
              </a:ext>
            </a:extLst>
          </p:cNvPr>
          <p:cNvSpPr/>
          <p:nvPr/>
        </p:nvSpPr>
        <p:spPr>
          <a:xfrm>
            <a:off x="5592414" y="672049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Makna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dzalim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 : </a:t>
            </a:r>
          </a:p>
          <a:p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Tindakan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kejam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bengis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tidak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adil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atau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tidak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menaruh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belas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kasihan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.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Menurut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Kamus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Besar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Bahasa Indonesia [KBBI], kata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ini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juga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dikaitkan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dengan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perbuatan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sewenang-wenang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merugikan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orang lain. </a:t>
            </a:r>
          </a:p>
          <a:p>
            <a:endParaRPr lang="en-US" dirty="0">
              <a:latin typeface="Google Sans"/>
            </a:endParaRPr>
          </a:p>
          <a:p>
            <a:endParaRPr lang="en-US" sz="2400" dirty="0">
              <a:latin typeface="Geometr706 BlkCn BT Black" panose="020B0706030503030204" pitchFamily="34" charset="0"/>
            </a:endParaRPr>
          </a:p>
          <a:p>
            <a:endParaRPr lang="en-US" sz="2400" dirty="0">
              <a:latin typeface="Geometr706 BlkCn BT Black" panose="020B0706030503030204" pitchFamily="34" charset="0"/>
            </a:endParaRPr>
          </a:p>
          <a:p>
            <a:endParaRPr lang="en-US" sz="2400" dirty="0">
              <a:latin typeface="Geometr706 BlkCn BT Black" panose="020B0706030503030204" pitchFamily="34" charset="0"/>
            </a:endParaRPr>
          </a:p>
          <a:p>
            <a:endParaRPr lang="en-US" sz="2400" dirty="0">
              <a:latin typeface="Geometr706 BlkCn BT Black" panose="020B0706030503030204" pitchFamily="34" charset="0"/>
            </a:endParaRPr>
          </a:p>
          <a:p>
            <a:pPr algn="r"/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Makna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Pemimpin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dzalim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 : </a:t>
            </a:r>
          </a:p>
          <a:p>
            <a:pPr algn="r"/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Penguasa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menyalahgunakan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kekuasaannya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untuk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menindas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rakyat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melanggar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keadilan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mementingkan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diri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sendiri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atau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kelompoknya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.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Mereka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sering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kali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ingkar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janji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bersikap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sewenang-wenang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27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4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468B3A-85CE-B448-98D4-71EC5C2927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2B8F25-A592-FF44-9CAE-D13468680E59}"/>
              </a:ext>
            </a:extLst>
          </p:cNvPr>
          <p:cNvSpPr/>
          <p:nvPr/>
        </p:nvSpPr>
        <p:spPr>
          <a:xfrm>
            <a:off x="6420681" y="2449251"/>
            <a:ext cx="5387004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ar-SA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وَكَذَلِكَ نُوَلِّي بَعْضَ الظَّالِمِينَ بَعْضًا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ar-SA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 بِمَا كَانُوا يَكْسِبُونَ</a:t>
            </a:r>
          </a:p>
          <a:p>
            <a:pPr lvl="0" algn="ctr"/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Dan demikianlah Kami jadikan sebahagian orang-orang yang </a:t>
            </a:r>
            <a:r>
              <a:rPr lang="id-ID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dzalim</a:t>
            </a:r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itu menjadi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pemimpin</a:t>
            </a:r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bagi sebahagian yang lain </a:t>
            </a:r>
          </a:p>
          <a:p>
            <a:pPr lvl="0" algn="ctr"/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disebabkan apa yang mereka usahakan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. </a:t>
            </a:r>
          </a:p>
          <a:p>
            <a:pPr lvl="0"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[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Qs.al-An’am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/6:129]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120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D41E62-2A73-F84B-BC79-97194316291B}"/>
              </a:ext>
            </a:extLst>
          </p:cNvPr>
          <p:cNvSpPr/>
          <p:nvPr/>
        </p:nvSpPr>
        <p:spPr>
          <a:xfrm>
            <a:off x="1689651" y="436484"/>
            <a:ext cx="8358809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id-ID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ar-SA" sz="40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لَيَأْتِيَنَّ عَلَيْكُمْ أُمَرَاءُ </a:t>
            </a:r>
            <a:endParaRPr lang="en-US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ar-SA" sz="40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يُقَرِّبُونَ شِرَارَ النَّاسِ</a:t>
            </a:r>
            <a:endParaRPr lang="en-US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ar-SA" sz="40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وَ يُؤَخِّرُونَ الصَّلاَةَ عَنْ مَوَاقِيتِهَا</a:t>
            </a:r>
            <a:endParaRPr lang="en-US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ar-SA" sz="40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فَمَنْ أَدْرَكَ ذَلِكَ مِنْهُمْ</a:t>
            </a:r>
            <a:endParaRPr lang="en-US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ar-SA" sz="40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فَلاَ يَكُونَنَّ عَرِيفًا وَلاَ شُرْطِيًّا وَلاَ جَابِيًا وَلاَ خَازِنًا</a:t>
            </a:r>
            <a:endParaRPr lang="id-ID" sz="40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/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Benar-benar akan datang kepada kalian suatu zaman yang para penguasanya Menjadikan orang-orang jahat sebagai orang kepercayaan.                                             Mereka menunda pelaksanaan </a:t>
            </a:r>
            <a:r>
              <a:rPr lang="id-ID" dirty="0" err="1">
                <a:latin typeface="Corbel" panose="020B0503020204020204" pitchFamily="34" charset="0"/>
                <a:cs typeface="Microsoft Uighur" panose="02000000000000000000" pitchFamily="2" charset="-78"/>
              </a:rPr>
              <a:t>shalat</a:t>
            </a:r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 dari awal waktunya. </a:t>
            </a:r>
          </a:p>
          <a:p>
            <a:pPr lvl="0"/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Barangsiapa mendapati masa mereka, </a:t>
            </a:r>
          </a:p>
          <a:p>
            <a:pPr lvl="0"/>
            <a:r>
              <a:rPr lang="id-ID" dirty="0" err="1">
                <a:latin typeface="Corbel" panose="020B0503020204020204" pitchFamily="34" charset="0"/>
                <a:cs typeface="Microsoft Uighur" panose="02000000000000000000" pitchFamily="2" charset="-78"/>
              </a:rPr>
              <a:t>janganlah</a:t>
            </a:r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 sekali-kali ia menjadi seorang </a:t>
            </a:r>
            <a:r>
              <a:rPr lang="id-ID" dirty="0" err="1">
                <a:latin typeface="Corbel" panose="020B0503020204020204" pitchFamily="34" charset="0"/>
                <a:cs typeface="Microsoft Uighur" panose="02000000000000000000" pitchFamily="2" charset="-78"/>
              </a:rPr>
              <a:t>penasehat</a:t>
            </a:r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, polisi, penarik pajak,                     atau bendahara bagi mereka</a:t>
            </a:r>
          </a:p>
          <a:p>
            <a:pPr lvl="0"/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[HR. Ibnu </a:t>
            </a:r>
            <a:r>
              <a:rPr lang="id-ID" dirty="0" err="1">
                <a:latin typeface="Corbel" panose="020B0503020204020204" pitchFamily="34" charset="0"/>
                <a:cs typeface="Microsoft Uighur" panose="02000000000000000000" pitchFamily="2" charset="-78"/>
              </a:rPr>
              <a:t>Hibban</a:t>
            </a:r>
            <a:r>
              <a:rPr lang="id-ID" dirty="0">
                <a:latin typeface="Corbel" panose="020B0503020204020204" pitchFamily="34" charset="0"/>
                <a:cs typeface="Microsoft Uighur" panose="02000000000000000000" pitchFamily="2" charset="-78"/>
              </a:rPr>
              <a:t>]</a:t>
            </a:r>
            <a:endParaRPr lang="en-US" dirty="0">
              <a:latin typeface="Corbel" panose="020B0503020204020204" pitchFamily="34" charset="0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9980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14A4E6-2BC4-6140-B961-0572B425D8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53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BC789A-9F7E-CC4B-A13B-6A2B4423149B}"/>
              </a:ext>
            </a:extLst>
          </p:cNvPr>
          <p:cNvSpPr/>
          <p:nvPr/>
        </p:nvSpPr>
        <p:spPr>
          <a:xfrm>
            <a:off x="99391" y="1997839"/>
            <a:ext cx="4572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dirty="0">
                <a:latin typeface="Geometr706 BlkCn BT Black" panose="020B0706030503030204" pitchFamily="34" charset="0"/>
                <a:cs typeface="Traditional Arabic" panose="02020603050405020304" pitchFamily="18" charset="-78"/>
              </a:rPr>
              <a:t>DO’A UNTUK ORANG DZOLIM </a:t>
            </a:r>
          </a:p>
          <a:p>
            <a:pPr lvl="0" algn="ctr"/>
            <a:r>
              <a:rPr lang="ar-SA" sz="38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لَا يُحِبُّ اللَّهُ الْجَهْرَ بِالسُّوءِ مِنَ الْقَوْلِ </a:t>
            </a:r>
            <a:endParaRPr lang="en-US" sz="38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ar-SA" sz="38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إِلَّا مَنْ ظُلِمَ</a:t>
            </a:r>
            <a:endParaRPr lang="en-US" sz="38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ar-SA" sz="38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وَكَانَ اللَّهُ سَمِيعًا عَلِيمًا</a:t>
            </a:r>
            <a:endParaRPr lang="en-US" sz="38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id-ID" dirty="0">
                <a:latin typeface="Corbel" panose="020B0503020204020204" pitchFamily="34" charset="0"/>
              </a:rPr>
              <a:t>Allah tidak menyukai ucapan buruk yang diucapkan secara terang-terangan,            kecuali oleh </a:t>
            </a:r>
            <a:r>
              <a:rPr lang="id-ID" b="1" dirty="0">
                <a:latin typeface="Corbel" panose="020B0503020204020204" pitchFamily="34" charset="0"/>
              </a:rPr>
              <a:t>ORANG YANG DI ZHALIMI.</a:t>
            </a:r>
            <a:r>
              <a:rPr lang="id-ID" dirty="0">
                <a:latin typeface="Corbel" panose="020B0503020204020204" pitchFamily="34" charset="0"/>
              </a:rPr>
              <a:t>     Dan Allah Maha Mendengar lagi Maha Mengetahui.</a:t>
            </a:r>
            <a:r>
              <a:rPr lang="en-US" dirty="0">
                <a:latin typeface="Corbel" panose="020B0503020204020204" pitchFamily="34" charset="0"/>
              </a:rPr>
              <a:t> </a:t>
            </a:r>
          </a:p>
          <a:p>
            <a:pPr lvl="0" algn="ctr"/>
            <a:r>
              <a:rPr lang="en-US" dirty="0">
                <a:latin typeface="Corbel" panose="020B0503020204020204" pitchFamily="34" charset="0"/>
              </a:rPr>
              <a:t>[</a:t>
            </a:r>
            <a:r>
              <a:rPr lang="id-ID" dirty="0" err="1">
                <a:latin typeface="Corbel" panose="020B0503020204020204" pitchFamily="34" charset="0"/>
              </a:rPr>
              <a:t>Q</a:t>
            </a:r>
            <a:r>
              <a:rPr lang="en-US" dirty="0">
                <a:latin typeface="Corbel" panose="020B0503020204020204" pitchFamily="34" charset="0"/>
              </a:rPr>
              <a:t>s.</a:t>
            </a:r>
            <a:r>
              <a:rPr lang="id-ID" dirty="0">
                <a:latin typeface="Corbel" panose="020B0503020204020204" pitchFamily="34" charset="0"/>
              </a:rPr>
              <a:t> </a:t>
            </a:r>
            <a:r>
              <a:rPr lang="en-US" dirty="0">
                <a:latin typeface="Corbel" panose="020B0503020204020204" pitchFamily="34" charset="0"/>
              </a:rPr>
              <a:t>a</a:t>
            </a:r>
            <a:r>
              <a:rPr lang="id-ID" dirty="0" err="1">
                <a:latin typeface="Corbel" panose="020B0503020204020204" pitchFamily="34" charset="0"/>
              </a:rPr>
              <a:t>n</a:t>
            </a:r>
            <a:r>
              <a:rPr lang="id-ID" dirty="0">
                <a:latin typeface="Corbel" panose="020B0503020204020204" pitchFamily="34" charset="0"/>
              </a:rPr>
              <a:t>-Nisa</a:t>
            </a:r>
            <a:r>
              <a:rPr lang="en-US" dirty="0">
                <a:latin typeface="Corbel" panose="020B0503020204020204" pitchFamily="34" charset="0"/>
              </a:rPr>
              <a:t>’ [4]</a:t>
            </a:r>
            <a:r>
              <a:rPr lang="id-ID" dirty="0">
                <a:latin typeface="Corbel" panose="020B0503020204020204" pitchFamily="34" charset="0"/>
              </a:rPr>
              <a:t> </a:t>
            </a:r>
            <a:r>
              <a:rPr lang="en-US" dirty="0">
                <a:latin typeface="Corbel" panose="020B0503020204020204" pitchFamily="34" charset="0"/>
              </a:rPr>
              <a:t>: </a:t>
            </a:r>
            <a:r>
              <a:rPr lang="id-ID" dirty="0">
                <a:latin typeface="Corbel" panose="020B0503020204020204" pitchFamily="34" charset="0"/>
              </a:rPr>
              <a:t>148</a:t>
            </a:r>
            <a:r>
              <a:rPr lang="en-US" dirty="0">
                <a:latin typeface="Corbel" panose="020B0503020204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8286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  <p:sndAc>
          <p:stSnd>
            <p:snd r:embed="rId2" name="push.wav"/>
          </p:stSnd>
        </p:sndAc>
      </p:transition>
    </mc:Choice>
    <mc:Fallback xmlns="">
      <p:transition spd="slow">
        <p:fade/>
        <p:sndAc>
          <p:stSnd>
            <p:snd r:embed="rId4" name="pu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709068-136E-734C-99D0-682B8E0C08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0" b="9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08E731-7618-3640-87BD-FD0E58A76B04}"/>
              </a:ext>
            </a:extLst>
          </p:cNvPr>
          <p:cNvSpPr/>
          <p:nvPr/>
        </p:nvSpPr>
        <p:spPr>
          <a:xfrm>
            <a:off x="5135214" y="456292"/>
            <a:ext cx="6096000" cy="63094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fontAlgn="base"/>
            <a:endParaRPr lang="id-ID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metr706 BlkCn BT Black" panose="020B070603050303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r>
              <a:rPr lang="ar-SA" sz="32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ثَلَاثةٌ لا تُرَدُّ دَعوَتُهُمُ</a:t>
            </a:r>
            <a:endParaRPr lang="en-US" sz="32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r" fontAlgn="base"/>
            <a:r>
              <a:rPr lang="ar-SA" sz="32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الإمامُ العادِلُ</a:t>
            </a:r>
            <a:endParaRPr lang="en-US" sz="32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r" fontAlgn="base"/>
            <a:r>
              <a:rPr lang="ar-SA" sz="32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والصّائمُ حَتَّى يُفطِرَ</a:t>
            </a:r>
            <a:endParaRPr lang="en-US" sz="32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r" fontAlgn="base"/>
            <a:r>
              <a:rPr lang="ar-SA" sz="32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ودَعوَةُ المَظلومِ</a:t>
            </a:r>
            <a:endParaRPr lang="id-ID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algn="r" fontAlgn="base"/>
            <a:r>
              <a:rPr lang="en-US" sz="1700" i="1" dirty="0" err="1">
                <a:latin typeface="Corbel" panose="020B0503020204020204" pitchFamily="34" charset="0"/>
              </a:rPr>
              <a:t>Tiga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golongan</a:t>
            </a:r>
            <a:r>
              <a:rPr lang="en-US" sz="1700" i="1" dirty="0">
                <a:latin typeface="Corbel" panose="020B0503020204020204" pitchFamily="34" charset="0"/>
              </a:rPr>
              <a:t> yang </a:t>
            </a:r>
            <a:r>
              <a:rPr lang="en-US" sz="1700" i="1" dirty="0" err="1">
                <a:latin typeface="Corbel" panose="020B0503020204020204" pitchFamily="34" charset="0"/>
              </a:rPr>
              <a:t>tidak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ditolak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do’anya</a:t>
            </a:r>
            <a:r>
              <a:rPr lang="en-US" sz="1700" i="1" dirty="0">
                <a:latin typeface="Corbel" panose="020B0503020204020204" pitchFamily="34" charset="0"/>
              </a:rPr>
              <a:t> : </a:t>
            </a:r>
          </a:p>
          <a:p>
            <a:pPr algn="r" fontAlgn="base"/>
            <a:r>
              <a:rPr lang="en-US" sz="1700" i="1" dirty="0" err="1">
                <a:latin typeface="Corbel" panose="020B0503020204020204" pitchFamily="34" charset="0"/>
              </a:rPr>
              <a:t>pemimpin</a:t>
            </a:r>
            <a:r>
              <a:rPr lang="en-US" sz="1700" i="1" dirty="0">
                <a:latin typeface="Corbel" panose="020B0503020204020204" pitchFamily="34" charset="0"/>
              </a:rPr>
              <a:t> yang </a:t>
            </a:r>
            <a:r>
              <a:rPr lang="en-US" sz="1700" i="1" dirty="0" err="1">
                <a:latin typeface="Corbel" panose="020B0503020204020204" pitchFamily="34" charset="0"/>
              </a:rPr>
              <a:t>adil</a:t>
            </a:r>
            <a:endParaRPr lang="en-US" sz="1700" i="1" dirty="0">
              <a:latin typeface="Corbel" panose="020B0503020204020204" pitchFamily="34" charset="0"/>
            </a:endParaRPr>
          </a:p>
          <a:p>
            <a:pPr algn="r" fontAlgn="base"/>
            <a:r>
              <a:rPr lang="en-US" sz="1700" i="1" dirty="0">
                <a:latin typeface="Corbel" panose="020B0503020204020204" pitchFamily="34" charset="0"/>
              </a:rPr>
              <a:t>orang yang </a:t>
            </a:r>
            <a:r>
              <a:rPr lang="en-US" sz="1700" i="1" dirty="0" err="1">
                <a:latin typeface="Corbel" panose="020B0503020204020204" pitchFamily="34" charset="0"/>
              </a:rPr>
              <a:t>berpuasa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hingga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ia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berbuka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</a:p>
          <a:p>
            <a:pPr algn="r" fontAlgn="base"/>
            <a:r>
              <a:rPr lang="en-US" sz="1700" i="1" dirty="0" err="1">
                <a:latin typeface="Corbel" panose="020B0503020204020204" pitchFamily="34" charset="0"/>
              </a:rPr>
              <a:t>dan</a:t>
            </a:r>
            <a:r>
              <a:rPr lang="en-US" sz="1700" i="1" dirty="0">
                <a:latin typeface="Corbel" panose="020B0503020204020204" pitchFamily="34" charset="0"/>
              </a:rPr>
              <a:t> </a:t>
            </a:r>
            <a:r>
              <a:rPr lang="en-US" sz="1700" i="1" dirty="0" err="1">
                <a:latin typeface="Corbel" panose="020B0503020204020204" pitchFamily="34" charset="0"/>
              </a:rPr>
              <a:t>do’a</a:t>
            </a:r>
            <a:r>
              <a:rPr lang="en-US" sz="1700" i="1" dirty="0">
                <a:latin typeface="Corbel" panose="020B0503020204020204" pitchFamily="34" charset="0"/>
              </a:rPr>
              <a:t> orang yang </a:t>
            </a:r>
            <a:r>
              <a:rPr lang="en-US" sz="1700" i="1" dirty="0" err="1">
                <a:latin typeface="Corbel" panose="020B0503020204020204" pitchFamily="34" charset="0"/>
              </a:rPr>
              <a:t>terdzalimi</a:t>
            </a:r>
            <a:r>
              <a:rPr lang="en-US" sz="1700" i="1" dirty="0">
                <a:latin typeface="Corbel" panose="020B0503020204020204" pitchFamily="34" charset="0"/>
              </a:rPr>
              <a:t> </a:t>
            </a:r>
            <a:r>
              <a:rPr lang="id-ID" sz="17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      </a:t>
            </a:r>
          </a:p>
          <a:p>
            <a:pPr algn="r" fontAlgn="base"/>
            <a:r>
              <a:rPr lang="id-ID" sz="17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[</a:t>
            </a:r>
            <a:r>
              <a:rPr lang="id-ID" sz="17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HR.Imam</a:t>
            </a:r>
            <a:r>
              <a:rPr lang="id-ID" sz="17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  <a:r>
              <a:rPr lang="id-ID" sz="17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Tirmidzi</a:t>
            </a:r>
            <a:r>
              <a:rPr lang="id-ID" sz="17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]</a:t>
            </a: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endParaRPr lang="id-ID" sz="10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 fontAlgn="base"/>
            <a:r>
              <a:rPr lang="id-ID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Ada tiga </a:t>
            </a:r>
            <a:r>
              <a:rPr lang="id-ID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do’a</a:t>
            </a:r>
            <a:r>
              <a:rPr lang="id-ID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 </a:t>
            </a:r>
          </a:p>
          <a:p>
            <a:pPr algn="r" fontAlgn="base"/>
            <a:r>
              <a:rPr lang="id-ID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yang tidak ditolak </a:t>
            </a:r>
          </a:p>
          <a:p>
            <a:pPr algn="r" fontAlgn="base"/>
            <a:r>
              <a:rPr lang="id-ID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oleh Allah</a:t>
            </a:r>
          </a:p>
        </p:txBody>
      </p:sp>
    </p:spTree>
    <p:extLst>
      <p:ext uri="{BB962C8B-B14F-4D97-AF65-F5344CB8AC3E}">
        <p14:creationId xmlns:p14="http://schemas.microsoft.com/office/powerpoint/2010/main" val="2374512773"/>
      </p:ext>
    </p:extLst>
  </p:cSld>
  <p:clrMapOvr>
    <a:masterClrMapping/>
  </p:clrMapOvr>
  <p:transition spd="slow">
    <p:randomBar dir="vert"/>
    <p:sndAc>
      <p:stSnd>
        <p:snd r:embed="rId2" name="chimes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CCA81-1E2D-E040-94CE-9E0783ED5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DFCA00-182E-3243-A92D-3A411B503389}"/>
              </a:ext>
            </a:extLst>
          </p:cNvPr>
          <p:cNvSpPr/>
          <p:nvPr/>
        </p:nvSpPr>
        <p:spPr>
          <a:xfrm>
            <a:off x="533403" y="1972773"/>
            <a:ext cx="489335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1200"/>
              </a:spcAft>
            </a:pPr>
            <a:r>
              <a:rPr lang="id-ID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hosphate Solid" panose="02000506050000020004" pitchFamily="2" charset="77"/>
                <a:ea typeface="Times New Roman" panose="02020603050405020304" pitchFamily="18" charset="0"/>
                <a:cs typeface="Phosphate Solid" panose="02000506050000020004" pitchFamily="2" charset="77"/>
              </a:rPr>
              <a:t>DO</a:t>
            </a:r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hosphate Solid" panose="02000506050000020004" pitchFamily="2" charset="77"/>
                <a:ea typeface="Times New Roman" panose="02020603050405020304" pitchFamily="18" charset="0"/>
                <a:cs typeface="Phosphate Solid" panose="02000506050000020004" pitchFamily="2" charset="77"/>
              </a:rPr>
              <a:t>’</a:t>
            </a:r>
            <a:r>
              <a:rPr lang="id-ID" sz="4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hosphate Solid" panose="02000506050000020004" pitchFamily="2" charset="77"/>
                <a:ea typeface="Times New Roman" panose="02020603050405020304" pitchFamily="18" charset="0"/>
                <a:cs typeface="Phosphate Solid" panose="02000506050000020004" pitchFamily="2" charset="77"/>
              </a:rPr>
              <a:t>A</a:t>
            </a:r>
            <a:r>
              <a:rPr lang="id-ID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hosphate Solid" panose="02000506050000020004" pitchFamily="2" charset="77"/>
                <a:ea typeface="Times New Roman" panose="02020603050405020304" pitchFamily="18" charset="0"/>
                <a:cs typeface="Phosphate Solid" panose="02000506050000020004" pitchFamily="2" charset="77"/>
              </a:rPr>
              <a:t> KEBURUKAN/ KEHANCURAN UNTUK </a:t>
            </a:r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hosphate Solid" panose="02000506050000020004" pitchFamily="2" charset="77"/>
                <a:ea typeface="Times New Roman" panose="02020603050405020304" pitchFamily="18" charset="0"/>
                <a:cs typeface="Phosphate Solid" panose="02000506050000020004" pitchFamily="2" charset="77"/>
              </a:rPr>
              <a:t>PEMIMPIN DZOLIM                      APA DALILNYA…?</a:t>
            </a:r>
          </a:p>
        </p:txBody>
      </p:sp>
    </p:spTree>
    <p:extLst>
      <p:ext uri="{BB962C8B-B14F-4D97-AF65-F5344CB8AC3E}">
        <p14:creationId xmlns:p14="http://schemas.microsoft.com/office/powerpoint/2010/main" val="1308163203"/>
      </p:ext>
    </p:extLst>
  </p:cSld>
  <p:clrMapOvr>
    <a:masterClrMapping/>
  </p:clrMapOvr>
  <p:transition spd="slow"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C923EB-016A-E649-A79B-EB40038E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81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042BDF-13D2-294E-9F63-751802589C4D}"/>
              </a:ext>
            </a:extLst>
          </p:cNvPr>
          <p:cNvSpPr/>
          <p:nvPr/>
        </p:nvSpPr>
        <p:spPr>
          <a:xfrm>
            <a:off x="496957" y="660167"/>
            <a:ext cx="669485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وَقَالَ مُوسَى رَبَّنَا إِنَّكَ آتَيْتَ فِرْعَوْنَ وَمَلأهُ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زِينَةً وَأَمْوَالا فِي الْحَيَاةِ الدُّنْيَا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رَبَّنَا لِيُضِلُّوا عَنْ سَبِيلِكَ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رَبَّنَا اطْمِسْ عَلَى أَمْوَالِهِمْ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 وَاشْدُدْ عَلَى قُلُوبِهِمْ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ar-SA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فَلا يُؤْمِنُوا حَتَّى يَرَوُا الْعَذَابَ الألِيمَ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fontAlgn="base"/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Musa berkata, “</a:t>
            </a:r>
            <a:r>
              <a:rPr lang="id-ID" sz="16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Yaa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Tuhan kami, sesungguhnya Engkau telah </a:t>
            </a:r>
          </a:p>
          <a:p>
            <a:pPr fontAlgn="base"/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memberi kepada </a:t>
            </a:r>
            <a:r>
              <a:rPr lang="id-ID" sz="16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Fir’aun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dan pemuka-pemuka kaumnya </a:t>
            </a:r>
          </a:p>
          <a:p>
            <a:pPr fontAlgn="base"/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perhiasan dan harta kekayaan dalam kehidupan dunia.</a:t>
            </a:r>
            <a:r>
              <a:rPr lang="en-US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</a:p>
          <a:p>
            <a:pPr fontAlgn="base"/>
            <a:r>
              <a:rPr lang="id-ID" sz="16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Yaa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Tuhan Kami, mereka menyesatkan [manusia] dari jalan-Mu.                          </a:t>
            </a:r>
            <a:r>
              <a:rPr lang="id-ID" sz="16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Yaa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Tuhan kami, binasakanlah harta benda mereka, </a:t>
            </a:r>
          </a:p>
          <a:p>
            <a:pPr fontAlgn="base"/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dan kunci matilah hati mereka, </a:t>
            </a:r>
          </a:p>
          <a:p>
            <a:pPr fontAlgn="base"/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maka mereka tidak beriman hingga mereka melihat siksaan yang pedih! [</a:t>
            </a:r>
            <a:r>
              <a:rPr lang="id-ID" sz="16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Q</a:t>
            </a:r>
            <a:r>
              <a:rPr lang="en-US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s.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Yunus </a:t>
            </a:r>
            <a:r>
              <a:rPr lang="en-US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[10] :</a:t>
            </a:r>
            <a:r>
              <a:rPr lang="id-ID" sz="16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88]</a:t>
            </a:r>
            <a:endParaRPr lang="en-US" sz="16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DO’A NABI MUSA 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152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8F9A53-4134-014C-860F-56DBA41492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49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013E73-AA47-9F47-BAC6-EE10217F617D}"/>
              </a:ext>
            </a:extLst>
          </p:cNvPr>
          <p:cNvSpPr/>
          <p:nvPr/>
        </p:nvSpPr>
        <p:spPr>
          <a:xfrm>
            <a:off x="2067339" y="548022"/>
            <a:ext cx="788173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ar-SA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اللَّهُمَّ مَنْ وَلِيَ مِنْ أَمْرِ هَذِهِ أُمَّتِي شَيْئاً فَرَفَقَ بِهِمْ، فَارْفُقْ بِهِ</a:t>
            </a:r>
            <a:endParaRPr lang="en-US" sz="4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lvl="0" algn="ctr"/>
            <a:r>
              <a:rPr lang="ar-SA" sz="4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وَمَنْ شَقَّ عَلَيْهَا فَاشْفُقْ عَلَيْهِ.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 algn="ctr"/>
            <a:r>
              <a:rPr lang="id-ID" sz="16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Yaa</a:t>
            </a:r>
            <a:r>
              <a:rPr lang="id-ID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Allah, siapa saja yang memimpin urusan umatku ini, kemudian ia menyayangi mereka, maka sayangilah ia. Dan siapa saja yang menyusahkan mereka,                                               maka SUSAHKANLAH DIA. [</a:t>
            </a:r>
            <a:r>
              <a:rPr lang="id-ID" sz="16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HR.Muslim</a:t>
            </a:r>
            <a:r>
              <a:rPr lang="id-ID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]</a:t>
            </a: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r>
              <a:rPr lang="id-ID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endParaRPr lang="id-ID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 algn="ctr"/>
            <a:r>
              <a:rPr lang="id-ID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DO’A RASULULLAH SAW</a:t>
            </a:r>
          </a:p>
          <a:p>
            <a:pPr lvl="0" algn="ctr"/>
            <a:r>
              <a:rPr lang="id-ID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metr706 BlkCn BT Black" panose="020B0706030503030204" pitchFamily="34" charset="0"/>
              </a:rPr>
              <a:t>UNTUK PARA PEMIMPIN</a:t>
            </a:r>
            <a:endParaRPr lang="en-US" sz="3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metr706 BlkCn BT Black" panose="020B0706030503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0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  <p:sndAc>
          <p:stSnd>
            <p:snd r:embed="rId2" name="type.wav"/>
          </p:stSnd>
        </p:sndAc>
      </p:transition>
    </mc:Choice>
    <mc:Fallback xmlns="">
      <p:transition spd="slow">
        <p:dissolve/>
        <p:sndAc>
          <p:stSnd>
            <p:snd r:embed="rId4" name="typ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95AC78-788E-E944-BB63-EF7EBF8CD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415990-A426-2A44-9AA1-92545F5F16B8}"/>
              </a:ext>
            </a:extLst>
          </p:cNvPr>
          <p:cNvSpPr/>
          <p:nvPr/>
        </p:nvSpPr>
        <p:spPr>
          <a:xfrm>
            <a:off x="503586" y="1412366"/>
            <a:ext cx="366091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Imam besar </a:t>
            </a:r>
            <a:r>
              <a:rPr lang="id-ID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Tabi’in</a:t>
            </a:r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id-ID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Hasan Al-Bashri </a:t>
            </a:r>
            <a:r>
              <a:rPr lang="id-ID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mendo’akan</a:t>
            </a:r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keburukan atas pemimpin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yang </a:t>
            </a:r>
            <a:r>
              <a:rPr lang="id-ID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zhalim</a:t>
            </a:r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 zamannya yaitu </a:t>
            </a:r>
            <a:r>
              <a:rPr lang="id-ID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Hajjaj</a:t>
            </a:r>
            <a:r>
              <a:rPr lang="id-ID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Bin Yusuf     </a:t>
            </a:r>
            <a:r>
              <a:rPr lang="id-ID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Ats-Tsaqafi</a:t>
            </a:r>
            <a:r>
              <a:rPr lang="id-ID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beliau </a:t>
            </a:r>
            <a:r>
              <a:rPr lang="id-ID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berdo’a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r>
              <a:rPr lang="ar-SA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اللَّهُمَّ يَا قَاصِمَ الْجَبَابِرَةِ اقْصِمِ الْحَجَّاجَ ابن </a:t>
            </a:r>
            <a:r>
              <a:rPr lang="ar-SA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يوسوف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Ya Allah yang maha perkasa dan maha kuasa, hancurkan dan binasakanlah </a:t>
            </a:r>
            <a:r>
              <a:rPr lang="id-ID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Hajjaj</a:t>
            </a:r>
            <a:r>
              <a:rPr lang="id-ID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Bin Yusuf…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09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4" name="coin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7B8014-16BA-2341-B1D3-4063974C226D}"/>
              </a:ext>
            </a:extLst>
          </p:cNvPr>
          <p:cNvSpPr/>
          <p:nvPr/>
        </p:nvSpPr>
        <p:spPr>
          <a:xfrm>
            <a:off x="3048000" y="1824983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id-ID" sz="3200" dirty="0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Lalu, setelah di doakan demikian oleh Imam Hasan Al-Bashri, </a:t>
            </a:r>
            <a:r>
              <a:rPr lang="en-US" sz="3200" dirty="0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Allah </a:t>
            </a:r>
            <a:r>
              <a:rPr lang="en-US" sz="3200" dirty="0" err="1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mengabulkan</a:t>
            </a:r>
            <a:r>
              <a:rPr lang="en-US" sz="3200" dirty="0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3200" dirty="0" err="1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do’anya</a:t>
            </a:r>
            <a:r>
              <a:rPr lang="en-US" sz="3200" dirty="0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 :</a:t>
            </a:r>
            <a:r>
              <a:rPr lang="id-ID" sz="3200" dirty="0">
                <a:ln w="10160"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id-ID" sz="32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rbel" panose="020B0503020204020204" pitchFamily="34" charset="0"/>
              </a:rPr>
              <a:t>Hajjaj</a:t>
            </a:r>
            <a:r>
              <a:rPr lang="id-ID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rbel" panose="020B0503020204020204" pitchFamily="34" charset="0"/>
              </a:rPr>
              <a:t> Bin Yusuf [si gubernur </a:t>
            </a:r>
            <a:r>
              <a:rPr lang="id-ID" sz="32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rbel" panose="020B0503020204020204" pitchFamily="34" charset="0"/>
              </a:rPr>
              <a:t>zhalim</a:t>
            </a:r>
            <a:r>
              <a:rPr lang="id-ID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rbel" panose="020B0503020204020204" pitchFamily="34" charset="0"/>
              </a:rPr>
              <a:t>] pun tewas tiga hari kemudian disebabkan perutnya dipenuhi cacing.</a:t>
            </a:r>
            <a:endParaRPr lang="en-US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21604"/>
      </p:ext>
    </p:extLst>
  </p:cSld>
  <p:clrMapOvr>
    <a:masterClrMapping/>
  </p:clrMapOvr>
  <p:transition spd="slow">
    <p:randomBar dir="vert"/>
    <p:sndAc>
      <p:stSnd>
        <p:snd r:embed="rId2" name="drumroll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76AF70-EFA7-0546-874D-419EC21DB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0513C-456F-4742-B474-93A411E7EB37}"/>
              </a:ext>
            </a:extLst>
          </p:cNvPr>
          <p:cNvSpPr/>
          <p:nvPr/>
        </p:nvSpPr>
        <p:spPr>
          <a:xfrm>
            <a:off x="6589642" y="1628146"/>
            <a:ext cx="5208101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id-ID" sz="2800" b="1" dirty="0" err="1">
                <a:latin typeface="Geometr706 BlkCn BT Black" panose="020B0706030503030204" pitchFamily="34" charset="0"/>
              </a:rPr>
              <a:t>Fudhail</a:t>
            </a:r>
            <a:r>
              <a:rPr lang="id-ID" sz="2800" b="1" dirty="0">
                <a:latin typeface="Geometr706 BlkCn BT Black" panose="020B0706030503030204" pitchFamily="34" charset="0"/>
              </a:rPr>
              <a:t> bin ‘</a:t>
            </a:r>
            <a:r>
              <a:rPr lang="id-ID" sz="2800" b="1" dirty="0" err="1">
                <a:latin typeface="Geometr706 BlkCn BT Black" panose="020B0706030503030204" pitchFamily="34" charset="0"/>
              </a:rPr>
              <a:t>Iyadh</a:t>
            </a:r>
            <a:r>
              <a:rPr lang="id-ID" sz="2800" b="1" dirty="0">
                <a:latin typeface="Geometr706 BlkCn BT Black" panose="020B0706030503030204" pitchFamily="34" charset="0"/>
              </a:rPr>
              <a:t> </a:t>
            </a:r>
            <a:r>
              <a:rPr lang="id-ID" sz="2800" b="1" dirty="0" err="1">
                <a:latin typeface="Geometr706 BlkCn BT Black" panose="020B0706030503030204" pitchFamily="34" charset="0"/>
              </a:rPr>
              <a:t>Rahimahullah</a:t>
            </a:r>
            <a:r>
              <a:rPr lang="id-ID" sz="2800" b="1" dirty="0">
                <a:latin typeface="Geometr706 BlkCn BT Black" panose="020B0706030503030204" pitchFamily="34" charset="0"/>
              </a:rPr>
              <a:t>  </a:t>
            </a:r>
            <a:r>
              <a:rPr lang="id-ID" sz="2400" dirty="0">
                <a:latin typeface="Corbel" panose="020B0503020204020204" pitchFamily="34" charset="0"/>
              </a:rPr>
              <a:t>Pern</a:t>
            </a:r>
            <a:r>
              <a:rPr lang="id-ID" sz="2400" dirty="0"/>
              <a:t>ah berkata, “</a:t>
            </a:r>
            <a:r>
              <a:rPr lang="id-ID" sz="2400" dirty="0" err="1"/>
              <a:t>Seandainya</a:t>
            </a:r>
            <a:r>
              <a:rPr lang="id-ID" sz="2400" dirty="0"/>
              <a:t> aku tahu bahwa aku memiliki </a:t>
            </a:r>
            <a:r>
              <a:rPr lang="id-ID" sz="2400" dirty="0" err="1"/>
              <a:t>do’a</a:t>
            </a:r>
            <a:r>
              <a:rPr lang="id-ID" sz="2400" dirty="0"/>
              <a:t> yang mustajab</a:t>
            </a:r>
            <a:r>
              <a:rPr lang="en-US" sz="2400" dirty="0"/>
              <a:t>ah</a:t>
            </a:r>
            <a:r>
              <a:rPr lang="id-ID" sz="2400" dirty="0"/>
              <a:t>, maka aku akan gunakan untuk </a:t>
            </a:r>
            <a:r>
              <a:rPr lang="id-ID" sz="2400" dirty="0" err="1"/>
              <a:t>mendo’akan</a:t>
            </a:r>
            <a:r>
              <a:rPr lang="id-ID" sz="2400" dirty="0"/>
              <a:t> pemimpin”</a:t>
            </a:r>
            <a:r>
              <a:rPr lang="en-US" sz="2400" dirty="0"/>
              <a:t>.</a:t>
            </a:r>
            <a:r>
              <a:rPr lang="id-ID" sz="2400" dirty="0"/>
              <a:t>         Akan tetapi, bukan berarti mendoakan keburukan atas pemimpin yang betul-betul </a:t>
            </a:r>
            <a:r>
              <a:rPr lang="id-ID" sz="2400" dirty="0" err="1"/>
              <a:t>dzhalim</a:t>
            </a:r>
            <a:r>
              <a:rPr lang="id-ID" sz="2400" dirty="0"/>
              <a:t> tidak ada contohnya</a:t>
            </a:r>
            <a:r>
              <a:rPr lang="en-US" sz="2400" dirty="0"/>
              <a:t> </a:t>
            </a:r>
            <a:r>
              <a:rPr lang="id-ID" sz="2400" dirty="0"/>
              <a:t>dari </a:t>
            </a:r>
            <a:r>
              <a:rPr lang="id-ID" sz="2400" dirty="0" err="1"/>
              <a:t>Salafus</a:t>
            </a:r>
            <a:r>
              <a:rPr lang="id-ID" sz="2400" dirty="0"/>
              <a:t> Shalih. Ini yang sering disembunyikan oleh segelintir         “mafia </a:t>
            </a:r>
            <a:r>
              <a:rPr lang="id-ID" sz="2400" dirty="0" err="1"/>
              <a:t>berjubah</a:t>
            </a:r>
            <a:r>
              <a:rPr lang="id-ID" sz="2400" dirty="0"/>
              <a:t>”                     menghamba pada majikannya.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786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DF0E6A-418B-3B47-9374-F2A1BA06B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02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E8EBD4-ED02-8248-902C-4BE9850FA3C7}"/>
              </a:ext>
            </a:extLst>
          </p:cNvPr>
          <p:cNvSpPr/>
          <p:nvPr/>
        </p:nvSpPr>
        <p:spPr>
          <a:xfrm>
            <a:off x="5025880" y="903888"/>
            <a:ext cx="6096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SA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مَنْ أَعَانَ ظَالِمًا</a:t>
            </a:r>
            <a:endParaRPr lang="en-US" sz="4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r" rtl="1"/>
            <a:r>
              <a:rPr lang="ar-SA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Uighur" panose="02000000000000000000" pitchFamily="2" charset="-78"/>
                <a:cs typeface="Microsoft Uighur" panose="02000000000000000000" pitchFamily="2" charset="-78"/>
              </a:rPr>
              <a:t> سَلَّطَهُ اللَّهُ عَلَيْهِ</a:t>
            </a:r>
            <a:endParaRPr lang="en-US" sz="4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r" rtl="1"/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Barang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siapa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yang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menolong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orang yang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dzalim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,                         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maka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Allah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akan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menjadikan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orang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zalim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itu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</a:p>
          <a:p>
            <a:pPr algn="r" rtl="1"/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berkuasa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atas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</a:t>
            </a:r>
            <a:r>
              <a:rPr lang="en-US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dirinya</a:t>
            </a:r>
            <a:r>
              <a:rPr lang="en-US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63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  <p:sndAc>
          <p:stSnd>
            <p:snd r:embed="rId2" name="cashreg.wav"/>
          </p:stSnd>
        </p:sndAc>
      </p:transition>
    </mc:Choice>
    <mc:Fallback xmlns="">
      <p:transition spd="slow">
        <p:fade/>
        <p:sndAc>
          <p:stSnd>
            <p:snd r:embed="rId4" name="cashreg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5754" y="1489794"/>
            <a:ext cx="7394713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d-ID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Singkat Kata, mendoakan keburukan kepada orang </a:t>
            </a:r>
            <a:r>
              <a:rPr lang="id-ID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zhalim</a:t>
            </a:r>
            <a:r>
              <a:rPr lang="id-ID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bel" panose="020B0503020204020204" pitchFamily="34" charset="0"/>
              </a:rPr>
              <a:t> [baik ia pemimpin atau bukan] adalah Sunnah para Nabi dan Rasul serta Salafus Shalih sejak dahulu.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bel" panose="020B0503020204020204" pitchFamily="34" charset="0"/>
            </a:endParaRPr>
          </a:p>
          <a:p>
            <a:pPr algn="ctr"/>
            <a:endParaRPr lang="en-US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3150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  <p:sndAc>
          <p:stSnd>
            <p:snd r:embed="rId2" name="push.wav"/>
          </p:stSnd>
        </p:sndAc>
      </p:transition>
    </mc:Choice>
    <mc:Fallback xmlns="">
      <p:transition spd="slow">
        <p:fade/>
        <p:sndAc>
          <p:stSnd>
            <p:snd r:embed="rId3" name="pu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</TotalTime>
  <Words>647</Words>
  <Application>Microsoft Macintosh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Aharoni</vt:lpstr>
      <vt:lpstr>Arial</vt:lpstr>
      <vt:lpstr>Calibri</vt:lpstr>
      <vt:lpstr>Calibri Light</vt:lpstr>
      <vt:lpstr>Corbel</vt:lpstr>
      <vt:lpstr>Geometr706 BlkCn BT Black</vt:lpstr>
      <vt:lpstr>Google Sans</vt:lpstr>
      <vt:lpstr>Microsoft Uighur</vt:lpstr>
      <vt:lpstr>Phosphate Solid</vt:lpstr>
      <vt:lpstr>Times New Roman</vt:lpstr>
      <vt:lpstr>Traditional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DO’A UNTUK PEMIMPIN YANG DZOLIM</dc:title>
  <dc:creator>Smart</dc:creator>
  <cp:lastModifiedBy>Microsoft Office User</cp:lastModifiedBy>
  <cp:revision>66</cp:revision>
  <dcterms:created xsi:type="dcterms:W3CDTF">2021-06-30T01:53:45Z</dcterms:created>
  <dcterms:modified xsi:type="dcterms:W3CDTF">2026-06-08T22:38:56Z</dcterms:modified>
</cp:coreProperties>
</file>